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d71656a74941b6" /><Relationship Type="http://schemas.openxmlformats.org/officeDocument/2006/relationships/extended-properties" Target="/docProps/app.xml" Id="Rd5bd2133257c4895" /><Relationship Type="http://schemas.openxmlformats.org/officeDocument/2006/relationships/officeDocument" Target="/ppt/presentation.xml" Id="R3bcf465a824748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297c34961d4b40"/>
  </p:sldMasterIdLst>
  <p:notesMasterIdLst>
    <p:notesMasterId xmlns:r="http://schemas.openxmlformats.org/officeDocument/2006/relationships" r:id="R758fb0f18ae24c2c"/>
  </p:notesMasterIdLst>
  <p:sldIdLst>
    <p:sldId xmlns:r="http://schemas.openxmlformats.org/officeDocument/2006/relationships" id="256" r:id="Reaa75b6fe6e34682"/>
    <p:sldId xmlns:r="http://schemas.openxmlformats.org/officeDocument/2006/relationships" id="257" r:id="R4f85c471442a41af"/>
    <p:sldId xmlns:r="http://schemas.openxmlformats.org/officeDocument/2006/relationships" id="258" r:id="Rb765b3a06d5a4c45"/>
    <p:sldId xmlns:r="http://schemas.openxmlformats.org/officeDocument/2006/relationships" id="259" r:id="Rb0ff7d5f03254802"/>
    <p:sldId xmlns:r="http://schemas.openxmlformats.org/officeDocument/2006/relationships" id="260" r:id="R1a45a10980fd457f"/>
    <p:sldId xmlns:r="http://schemas.openxmlformats.org/officeDocument/2006/relationships" id="261" r:id="R28614c08d82c4fe2"/>
    <p:sldId xmlns:r="http://schemas.openxmlformats.org/officeDocument/2006/relationships" id="262" r:id="Rdaebd2e4d8184ac2"/>
    <p:sldId xmlns:r="http://schemas.openxmlformats.org/officeDocument/2006/relationships" id="263" r:id="R23778679dd514e6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ccf20b33b4ca2" /><Relationship Type="http://schemas.openxmlformats.org/officeDocument/2006/relationships/slideMaster" Target="/ppt/slideMasters/slideMaster1.xml" Id="Rb6297c34961d4b40" /><Relationship Type="http://schemas.openxmlformats.org/officeDocument/2006/relationships/notesMaster" Target="/ppt/notesMasters/notesMaster1.xml" Id="R758fb0f18ae24c2c" /><Relationship Type="http://schemas.openxmlformats.org/officeDocument/2006/relationships/presProps" Target="/ppt/presProps.xml" Id="Reddb6b8ea6a64892" /><Relationship Type="http://schemas.openxmlformats.org/officeDocument/2006/relationships/tableStyles" Target="/ppt/tableStyles.xml" Id="R055d1a938b004dd4" /><Relationship Type="http://schemas.openxmlformats.org/officeDocument/2006/relationships/slide" Target="/ppt/slides/slide1.xml" Id="Reaa75b6fe6e34682" /><Relationship Type="http://schemas.openxmlformats.org/officeDocument/2006/relationships/slide" Target="/ppt/slides/slide2.xml" Id="R4f85c471442a41af" /><Relationship Type="http://schemas.openxmlformats.org/officeDocument/2006/relationships/slide" Target="/ppt/slides/slide3.xml" Id="Rb765b3a06d5a4c45" /><Relationship Type="http://schemas.openxmlformats.org/officeDocument/2006/relationships/slide" Target="/ppt/slides/slide4.xml" Id="Rb0ff7d5f03254802" /><Relationship Type="http://schemas.openxmlformats.org/officeDocument/2006/relationships/slide" Target="/ppt/slides/slide5.xml" Id="R1a45a10980fd457f" /><Relationship Type="http://schemas.openxmlformats.org/officeDocument/2006/relationships/slide" Target="/ppt/slides/slide6.xml" Id="R28614c08d82c4fe2" /><Relationship Type="http://schemas.openxmlformats.org/officeDocument/2006/relationships/slide" Target="/ppt/slides/slide7.xml" Id="Rdaebd2e4d8184ac2" /><Relationship Type="http://schemas.openxmlformats.org/officeDocument/2006/relationships/slide" Target="/ppt/slides/slide8.xml" Id="R23778679dd514e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793120c7b947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f3fafd4c004dc4" /><Relationship Type="http://schemas.openxmlformats.org/officeDocument/2006/relationships/notesMaster" Target="/ppt/notesMasters/notesMaster1.xml" Id="Raa9d77c7602b44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f96761c5d74848" /><Relationship Type="http://schemas.openxmlformats.org/officeDocument/2006/relationships/notesMaster" Target="/ppt/notesMasters/notesMaster1.xml" Id="Rabd52139f4114a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b80632f0fc493d" /><Relationship Type="http://schemas.openxmlformats.org/officeDocument/2006/relationships/notesMaster" Target="/ppt/notesMasters/notesMaster1.xml" Id="R0cb15edffb5b4d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6b0c92c41f408e" /><Relationship Type="http://schemas.openxmlformats.org/officeDocument/2006/relationships/notesMaster" Target="/ppt/notesMasters/notesMaster1.xml" Id="R7990073b9e3547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eb8ba454594d23" /><Relationship Type="http://schemas.openxmlformats.org/officeDocument/2006/relationships/notesMaster" Target="/ppt/notesMasters/notesMaster1.xml" Id="R515ba1d5127246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1667cbc6ed40ba" /><Relationship Type="http://schemas.openxmlformats.org/officeDocument/2006/relationships/notesMaster" Target="/ppt/notesMasters/notesMaster1.xml" Id="Ra7d3cc8bd2fe43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c4acff337904e54" /><Relationship Type="http://schemas.openxmlformats.org/officeDocument/2006/relationships/notesMaster" Target="/ppt/notesMasters/notesMaster1.xml" Id="Rc29c5ea0e207407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1239190e2cb4931" /><Relationship Type="http://schemas.openxmlformats.org/officeDocument/2006/relationships/notesMaster" Target="/ppt/notesMasters/notesMaster1.xml" Id="Rcd98f2fa16a941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a140949c5c4e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46c0ba8c614c5e" /><Relationship Type="http://schemas.openxmlformats.org/officeDocument/2006/relationships/slideLayout" Target="/ppt/slideLayouts/slideLayout1.xml" Id="Recc4e7c024a24a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cc4e7c024a24a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43462c5a048a6" /><Relationship Type="http://schemas.openxmlformats.org/officeDocument/2006/relationships/notesSlide" Target="/ppt/notesSlides/notesSlide1.xml" Id="Rccb867e601ab4c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056b06cbc4ae5" /><Relationship Type="http://schemas.openxmlformats.org/officeDocument/2006/relationships/notesSlide" Target="/ppt/notesSlides/notesSlide2.xml" Id="R275b19dcba7840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fa0f2a0f24a7a" /><Relationship Type="http://schemas.openxmlformats.org/officeDocument/2006/relationships/notesSlide" Target="/ppt/notesSlides/notesSlide3.xml" Id="Rb6d7a1d884914e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2654e089c46bc" /><Relationship Type="http://schemas.openxmlformats.org/officeDocument/2006/relationships/notesSlide" Target="/ppt/notesSlides/notesSlide4.xml" Id="Rce7930cbc60e42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c8becbf3a459e" /><Relationship Type="http://schemas.openxmlformats.org/officeDocument/2006/relationships/notesSlide" Target="/ppt/notesSlides/notesSlide5.xml" Id="R8d0f7180d5da40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3575954ad422b" /><Relationship Type="http://schemas.openxmlformats.org/officeDocument/2006/relationships/notesSlide" Target="/ppt/notesSlides/notesSlide6.xml" Id="Rbc7428167d6b4a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35130776074789" /><Relationship Type="http://schemas.openxmlformats.org/officeDocument/2006/relationships/notesSlide" Target="/ppt/notesSlides/notesSlide7.xml" Id="R9f17a0d838f641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60e385e1a4b0e" /><Relationship Type="http://schemas.openxmlformats.org/officeDocument/2006/relationships/notesSlide" Target="/ppt/notesSlides/notesSlide8.xml" Id="R043558af44724f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1C3CF2-8304-4B0F-8C85-95631EB3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F4F0FF"/>
                </a:solidFill>
              </a:defRPr>
            </a:pPr>
            <a:r>
              <a:rPr sz="5100" b="1">
                <a:solidFill>
                  <a:srgbClr val="F4F0FF"/>
                </a:solidFill>
              </a:rPr>
              <a:t>DreamEcho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0D29E-C82F-4074-A297-5DA11AEA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763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78D5FF"/>
                </a:solidFill>
              </a:defRPr>
            </a:pPr>
            <a:r>
              <a:rPr sz="3300" b="1">
                <a:solidFill>
                  <a:srgbClr val="78D5FF"/>
                </a:solidFill>
              </a:rPr>
              <a:t>梦境重现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F1A77-6CE4-4D1F-AD8D-EABE7AC90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81250"/>
            <a:ext cx="581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9B2CE"/>
                </a:solidFill>
              </a:defRPr>
            </a:pPr>
            <a:r>
              <a:rPr sz="1800" b="0">
                <a:solidFill>
                  <a:srgbClr val="B9B2CE"/>
                </a:solidFill>
              </a:rPr>
              <a:t>把睡眠数据、梦话和用户补充，转化为可回看的 AI 梦境视频。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2DA90-01A2-4F81-9B31-98E68A08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9950"/>
            <a:ext cx="1619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FFD38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EC5DC-D3D1-464D-A3FD-8AC8AC865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38A"/>
                </a:solidFill>
              </a:defRPr>
            </a:pPr>
            <a:r>
              <a:rPr sz="1050" b="1">
                <a:solidFill>
                  <a:srgbClr val="FFD38A"/>
                </a:solidFill>
              </a:rPr>
              <a:t>Hackathon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2A11B-F3D2-49F3-9C72-AAD6001D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09950"/>
            <a:ext cx="114300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A98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51B902-703B-4C37-8D6C-0EBE411A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4861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8CFF"/>
                </a:solidFill>
              </a:defRPr>
            </a:pPr>
            <a:r>
              <a:rPr sz="1050" b="1">
                <a:solidFill>
                  <a:srgbClr val="A98CFF"/>
                </a:solidFill>
              </a:rPr>
              <a:t>光宗耀组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C4987-A7D2-4BE9-A2AC-588A9E5A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66750"/>
            <a:ext cx="2524125" cy="514921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0B0E1A"/>
          </a:solidFill>
          <a:ln xmlns:a="http://schemas.openxmlformats.org/drawingml/2006/main" w="19050">
            <a:solidFill>
              <a:srgbClr val="4A537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163104-3D60-439B-9443-682A4052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2351" y="808101"/>
            <a:ext cx="2241423" cy="4866513"/>
          </a:xfrm>
          <a:prstGeom xmlns:a="http://schemas.openxmlformats.org/drawingml/2006/main" prst="roundRect">
            <a:avLst>
              <a:gd name="adj" fmla="val 1700"/>
            </a:avLst>
          </a:prstGeom>
          <a:solidFill xmlns:a="http://schemas.openxmlformats.org/drawingml/2006/main">
            <a:srgbClr val="11162A"/>
          </a:solidFill>
          <a:ln xmlns:a="http://schemas.openxmlformats.org/drawingml/2006/main" w="9525">
            <a:solidFill>
              <a:srgbClr val="27315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28C7E-5310-47FE-AEBA-AB8A38DF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702" y="989838"/>
            <a:ext cx="1211580" cy="161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78D5FF"/>
                </a:solidFill>
              </a:defRPr>
            </a:pPr>
            <a:r>
              <a:rPr sz="795" b="1">
                <a:solidFill>
                  <a:srgbClr val="78D5FF"/>
                </a:solidFill>
              </a:rPr>
              <a:t>DreamEcho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23E4C5-20B6-4D9A-AB2D-73685038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702" y="1191768"/>
            <a:ext cx="1696212" cy="2827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10" b="1">
                <a:solidFill>
                  <a:srgbClr val="F4F0FF"/>
                </a:solidFill>
              </a:defRPr>
            </a:pPr>
            <a:r>
              <a:rPr sz="1510" b="1">
                <a:solidFill>
                  <a:srgbClr val="F4F0FF"/>
                </a:solidFill>
              </a:rPr>
              <a:t>梦境重现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6B735-44DD-4F1B-A3CA-170F6A9F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702" y="1676400"/>
            <a:ext cx="1958721" cy="1272159"/>
          </a:xfrm>
          <a:prstGeom xmlns:a="http://schemas.openxmlformats.org/drawingml/2006/main" prst="roundRect">
            <a:avLst>
              <a:gd name="adj" fmla="val 2995"/>
            </a:avLst>
          </a:prstGeom>
          <a:solidFill xmlns:a="http://schemas.openxmlformats.org/drawingml/2006/main">
            <a:srgbClr val="282047"/>
          </a:solidFill>
          <a:ln xmlns:a="http://schemas.openxmlformats.org/drawingml/2006/main" w="9525">
            <a:solidFill>
              <a:srgbClr val="544B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77996-EBBF-47CB-9225-8AA94C64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5053" y="2140839"/>
            <a:ext cx="1595247" cy="5452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34" b="1">
                <a:solidFill>
                  <a:srgbClr val="F4F0FF"/>
                </a:solidFill>
              </a:defRPr>
            </a:pPr>
            <a:r>
              <a:rPr sz="1034" b="1">
                <a:solidFill>
                  <a:srgbClr val="F4F0FF"/>
                </a:solidFill>
              </a:rPr>
              <a:t>AI 将用睡眠数据和描述，重建接近主观记忆的梦境视频。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37DE02-C2DB-4783-B53A-4EB2DDEE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3702" y="3130296"/>
            <a:ext cx="888492" cy="726948"/>
          </a:xfrm>
          <a:prstGeom xmlns:a="http://schemas.openxmlformats.org/drawingml/2006/main" prst="roundRect">
            <a:avLst>
              <a:gd name="adj" fmla="val 5241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8754A-A161-4560-BF88-767BBF8D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860" y="3271647"/>
            <a:ext cx="625983" cy="161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6" b="0">
                <a:solidFill>
                  <a:srgbClr val="B9B2CE"/>
                </a:solidFill>
              </a:defRPr>
            </a:pPr>
            <a:r>
              <a:rPr sz="716" b="0">
                <a:solidFill>
                  <a:srgbClr val="B9B2CE"/>
                </a:solidFill>
              </a:rPr>
              <a:t>睡眠评分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948CE-5BA6-4CBF-8B6A-A5869720C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860" y="3453384"/>
            <a:ext cx="545211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08" b="1">
                <a:solidFill>
                  <a:srgbClr val="F4F0FF"/>
                </a:solidFill>
              </a:defRPr>
            </a:pPr>
            <a:r>
              <a:rPr sz="1908" b="1">
                <a:solidFill>
                  <a:srgbClr val="F4F0FF"/>
                </a:solidFill>
              </a:rPr>
              <a:t>78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D6DEE4-B242-488C-99F1-62B64B43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931" y="3130296"/>
            <a:ext cx="888492" cy="726948"/>
          </a:xfrm>
          <a:prstGeom xmlns:a="http://schemas.openxmlformats.org/drawingml/2006/main" prst="roundRect">
            <a:avLst>
              <a:gd name="adj" fmla="val 5241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10D0F-A9E0-441C-AFA9-ECDC517A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089" y="3271647"/>
            <a:ext cx="625983" cy="1615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16" b="0">
                <a:solidFill>
                  <a:srgbClr val="B9B2CE"/>
                </a:solidFill>
              </a:defRPr>
            </a:pPr>
            <a:r>
              <a:rPr sz="716" b="0">
                <a:solidFill>
                  <a:srgbClr val="B9B2CE"/>
                </a:solidFill>
              </a:rPr>
              <a:t>压力信号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F473AD-23C3-42DB-97BD-D5DFC3130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5089" y="3453384"/>
            <a:ext cx="545211" cy="3028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08" b="1">
                <a:solidFill>
                  <a:srgbClr val="F4F0FF"/>
                </a:solidFill>
              </a:defRPr>
            </a:pPr>
            <a:r>
              <a:rPr sz="1908" b="1">
                <a:solidFill>
                  <a:srgbClr val="F4F0FF"/>
                </a:solidFill>
              </a:rPr>
              <a:t>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654991-9BBB-40A0-9E9A-EAC5151E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3895" y="4079367"/>
            <a:ext cx="525018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78D5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168B7C-DAEC-461C-937B-63DF3663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195" y="4155567"/>
            <a:ext cx="29641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5FF"/>
                </a:solidFill>
              </a:defRPr>
            </a:pPr>
            <a:r>
              <a:rPr sz="1050" b="1">
                <a:solidFill>
                  <a:srgbClr val="78D5FF"/>
                </a:solidFill>
              </a:rPr>
              <a:t>海边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1B5B46-6E0D-485D-B7C6-084E860B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9685" y="4079367"/>
            <a:ext cx="424053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A98C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138D4-D9B3-4C79-B365-E6B41293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3985" y="4155567"/>
            <a:ext cx="195453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8CFF"/>
                </a:solidFill>
              </a:defRPr>
            </a:pPr>
            <a:r>
              <a:rPr sz="1050" b="1">
                <a:solidFill>
                  <a:srgbClr val="A98CFF"/>
                </a:solidFill>
              </a:rPr>
              <a:t>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FA8D6-00C7-45F3-A75A-1EAFBB464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510" y="4079367"/>
            <a:ext cx="726948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FFD38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911B0-BABB-45BE-8BBF-513445D5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810" y="4155567"/>
            <a:ext cx="49834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38A"/>
                </a:solidFill>
              </a:defRPr>
            </a:pPr>
            <a:r>
              <a:rPr sz="1050" b="1">
                <a:solidFill>
                  <a:srgbClr val="FFD38A"/>
                </a:solidFill>
              </a:rPr>
              <a:t>找不到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6F23C3-54B7-48B4-89D5-D5615E57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84A8"/>
                </a:solidFill>
              </a:defRPr>
            </a:pPr>
            <a:r>
              <a:rPr sz="1050" b="0">
                <a:solidFill>
                  <a:srgbClr val="8C84A8"/>
                </a:solidFill>
              </a:rPr>
              <a:t>DreamEcho / 光宗耀组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5C439-7EE1-4C6A-9B56-1431B570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C84A8"/>
                </a:solidFill>
              </a:defRPr>
            </a:pPr>
            <a:r>
              <a:rPr sz="1350" b="0">
                <a:solidFill>
                  <a:srgbClr val="8C84A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34408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2E6C8F-6577-46F4-AFF7-B6583F39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FF"/>
                </a:solidFill>
              </a:defRPr>
            </a:pPr>
            <a:r>
              <a:rPr sz="2850" b="1">
                <a:solidFill>
                  <a:srgbClr val="F4F0FF"/>
                </a:solidFill>
              </a:rPr>
              <a:t>梦醒后最难保存的是主观记忆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33DB6-6A5D-4E51-9587-AD777982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DreamEcho 解决的是“数据有了，但梦境仍然散掉”的断点。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4114E0-7327-4D03-A392-6552DE1F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84A8"/>
                </a:solidFill>
              </a:defRPr>
            </a:pPr>
            <a:r>
              <a:rPr sz="1050" b="0">
                <a:solidFill>
                  <a:srgbClr val="8C84A8"/>
                </a:solidFill>
              </a:rPr>
              <a:t>DreamEcho / 光宗耀组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10A98-3774-4288-8876-8E67129D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C84A8"/>
                </a:solidFill>
              </a:defRPr>
            </a:pPr>
            <a:r>
              <a:rPr sz="1350" b="0">
                <a:solidFill>
                  <a:srgbClr val="8C84A8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FA258-270D-4758-AF70-0823DB3F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30670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9C095-F8EB-4BE8-956B-C247FCE0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0FF"/>
                </a:solidFill>
              </a:defRPr>
            </a:pPr>
            <a:r>
              <a:rPr sz="1950" b="1">
                <a:solidFill>
                  <a:srgbClr val="F4F0FF"/>
                </a:solidFill>
              </a:rPr>
              <a:t>记忆碎片化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16E4F2-7ABB-4137-9087-A06985C6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醒来后只剩关键词、情绪和少量画面，很难复原为连续故事。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F5DD2-58C7-4982-911E-E53F1342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8D5FF"/>
                </a:solidFill>
              </a:defRPr>
            </a:pPr>
            <a:r>
              <a:rPr sz="1800" b="1">
                <a:solidFill>
                  <a:srgbClr val="78D5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478E3-F7EE-4053-A194-539D1A7F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90750"/>
            <a:ext cx="30670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B1F31-5F54-4569-AFD0-8682CDDD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0FF"/>
                </a:solidFill>
              </a:defRPr>
            </a:pPr>
            <a:r>
              <a:rPr sz="1950" b="1">
                <a:solidFill>
                  <a:srgbClr val="F4F0FF"/>
                </a:solidFill>
              </a:rPr>
              <a:t>睡眠数据孤立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20289-9092-49AD-BB58-95016756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289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REM、心率、翻身、梦话能提示异常，却很少转化为用户能理解的内容。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20B1F8-66F0-4250-90B0-C7B4CC064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98CFF"/>
                </a:solidFill>
              </a:defRPr>
            </a:pPr>
            <a:r>
              <a:rPr sz="1800" b="1">
                <a:solidFill>
                  <a:srgbClr val="A98C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7BD3F-6541-4CBC-8714-002D2DCF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067050" cy="23812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B54D7F-B747-46EC-A7B8-9C420494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0FF"/>
                </a:solidFill>
              </a:defRPr>
            </a:pPr>
            <a:r>
              <a:rPr sz="1950" b="1">
                <a:solidFill>
                  <a:srgbClr val="F4F0FF"/>
                </a:solidFill>
              </a:rPr>
              <a:t>压力信号难行动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B1A22-8CDF-401D-A640-8F26523B9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38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紧张梦话和睡眠波动可以提醒压力，但缺少温和的后续建议。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D6C59D-0402-4487-AA45-D0D2690A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962400"/>
            <a:ext cx="53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D38A"/>
                </a:solidFill>
              </a:defRPr>
            </a:pPr>
            <a:r>
              <a:rPr sz="1800" b="1">
                <a:solidFill>
                  <a:srgbClr val="FFD38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819870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BBE456-61B4-46EF-B45D-080F0AC59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FF"/>
                </a:solidFill>
              </a:defRPr>
            </a:pPr>
            <a:r>
              <a:rPr sz="2850" b="1">
                <a:solidFill>
                  <a:srgbClr val="F4F0FF"/>
                </a:solidFill>
              </a:rPr>
              <a:t>DreamEcho 用追问把梦境补全到可生成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7CB731-794A-4F1C-BD0F-5CAC046E7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系统先抓客观线索，再用三轮选择和自由补充减少 AI 乱编。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58922-81D4-46BB-A492-55174EE4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84A8"/>
                </a:solidFill>
              </a:defRPr>
            </a:pPr>
            <a:r>
              <a:rPr sz="1050" b="0">
                <a:solidFill>
                  <a:srgbClr val="8C84A8"/>
                </a:solidFill>
              </a:rPr>
              <a:t>DreamEcho / 光宗耀组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85A8A-50D7-442A-9DAB-EE776166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C84A8"/>
                </a:solidFill>
              </a:defRPr>
            </a:pPr>
            <a:r>
              <a:rPr sz="1350" b="0">
                <a:solidFill>
                  <a:srgbClr val="8C84A8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5B999-EB36-4BF7-98F0-4B668E44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21907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78D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781D3-60AC-41B4-AC9F-C65E27F28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FF"/>
                </a:solidFill>
              </a:defRPr>
            </a:pPr>
            <a:r>
              <a:rPr sz="1875" b="1">
                <a:solidFill>
                  <a:srgbClr val="F4F0FF"/>
                </a:solidFill>
              </a:rPr>
              <a:t>睡眠数据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5BC984-4D49-46E9-B417-788AD8AE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2CE"/>
                </a:solidFill>
              </a:defRPr>
            </a:pPr>
            <a:r>
              <a:rPr sz="1275" b="0">
                <a:solidFill>
                  <a:srgbClr val="B9B2CE"/>
                </a:solidFill>
              </a:rPr>
              <a:t>REM、心率、体动、呼吸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24751-970C-4FC6-B44B-D3053FE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84A8"/>
                </a:solidFill>
              </a:defRPr>
            </a:pPr>
            <a:r>
              <a:rPr sz="2550" b="1">
                <a:solidFill>
                  <a:srgbClr val="8C84A8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4B8E3-3F8B-4D00-979B-6467B3BD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21907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A9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DB8469-218F-41F1-B2A1-A0D208B7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571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FF"/>
                </a:solidFill>
              </a:defRPr>
            </a:pPr>
            <a:r>
              <a:rPr sz="1875" b="1">
                <a:solidFill>
                  <a:srgbClr val="F4F0FF"/>
                </a:solidFill>
              </a:rPr>
              <a:t>梦话转写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237BA-DB8D-4EEC-B569-C633348F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2CE"/>
                </a:solidFill>
              </a:defRPr>
            </a:pPr>
            <a:r>
              <a:rPr sz="1275" b="0">
                <a:solidFill>
                  <a:srgbClr val="B9B2CE"/>
                </a:solidFill>
              </a:rPr>
              <a:t>不要走、门打不开、找不到路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29A27-6733-4C8A-9523-239C67F7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84A8"/>
                </a:solidFill>
              </a:defRPr>
            </a:pPr>
            <a:r>
              <a:rPr sz="2550" b="1">
                <a:solidFill>
                  <a:srgbClr val="8C84A8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D27D9-9BF4-472F-AE71-089EA3BD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1907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FFD38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2D1C4F-539D-428F-976C-7C3B09DA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571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FF"/>
                </a:solidFill>
              </a:defRPr>
            </a:pPr>
            <a:r>
              <a:rPr sz="1875" b="1">
                <a:solidFill>
                  <a:srgbClr val="F4F0FF"/>
                </a:solidFill>
              </a:rPr>
              <a:t>三轮追问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F4BD9-D8A3-4278-BB95-E6B04CD1C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2CE"/>
                </a:solidFill>
              </a:defRPr>
            </a:pPr>
            <a:r>
              <a:rPr sz="1275" b="0">
                <a:solidFill>
                  <a:srgbClr val="B9B2CE"/>
                </a:solidFill>
              </a:rPr>
              <a:t>视觉、情绪、事件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1EBFC9-93FF-48E2-9840-4943BAB8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8C84A8"/>
                </a:solidFill>
              </a:defRPr>
            </a:pPr>
            <a:r>
              <a:rPr sz="2550" b="1">
                <a:solidFill>
                  <a:srgbClr val="8C84A8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DE0375-933D-4A70-AD9C-0ED5EFB1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66950"/>
            <a:ext cx="2190750" cy="165735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8DF2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438361-8FC9-405A-9DCA-B0C9757E0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FF"/>
                </a:solidFill>
              </a:defRPr>
            </a:pPr>
            <a:r>
              <a:rPr sz="1875" b="1">
                <a:solidFill>
                  <a:srgbClr val="F4F0FF"/>
                </a:solidFill>
              </a:rPr>
              <a:t>生成结果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607F95-2B95-4FDC-849D-52F32691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48000"/>
            <a:ext cx="1638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2CE"/>
                </a:solidFill>
              </a:defRPr>
            </a:pPr>
            <a:r>
              <a:rPr sz="1275" b="0">
                <a:solidFill>
                  <a:srgbClr val="B9B2CE"/>
                </a:solidFill>
              </a:rPr>
              <a:t>视频 prompt、分镜、解梦、建议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B5A33-2F91-4927-85E8-C4C0F6AC7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667250"/>
            <a:ext cx="895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D5FF"/>
                </a:solidFill>
              </a:defRPr>
            </a:pPr>
            <a:r>
              <a:rPr sz="1650" b="1">
                <a:solidFill>
                  <a:srgbClr val="78D5FF"/>
                </a:solidFill>
              </a:rPr>
              <a:t>关键设计：AI 不直接替用户“编梦”，而是先提出可否认、可修正的候选线索。</a:t>
            </a:r>
          </a:p>
        </p:txBody>
      </p:sp>
    </p:spTree>
    <p:extLst>
      <p:ext uri="{BB962C8B-B14F-4D97-AF65-F5344CB8AC3E}">
        <p14:creationId xmlns:p14="http://schemas.microsoft.com/office/powerpoint/2010/main" val="5141118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2760AE-DC0C-4335-972E-A71AF9836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FF"/>
                </a:solidFill>
              </a:defRPr>
            </a:pPr>
            <a:r>
              <a:rPr sz="2850" b="1">
                <a:solidFill>
                  <a:srgbClr val="F4F0FF"/>
                </a:solidFill>
              </a:rPr>
              <a:t>用户只需要完成一条很短的闭环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87D8C8-712A-4A9D-AA1F-62DAE59C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从睡眠线索到梦境日记，原型已经跑通完整产品路径。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44A68B-6F3C-4BE4-B92E-443096A1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84A8"/>
                </a:solidFill>
              </a:defRPr>
            </a:pPr>
            <a:r>
              <a:rPr sz="1050" b="0">
                <a:solidFill>
                  <a:srgbClr val="8C84A8"/>
                </a:solidFill>
              </a:rPr>
              <a:t>DreamEcho / 光宗耀组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D0EE4-498F-42E4-B85E-4EC092ED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C84A8"/>
                </a:solidFill>
              </a:defRPr>
            </a:pPr>
            <a:r>
              <a:rPr sz="1350" b="0">
                <a:solidFill>
                  <a:srgbClr val="8C84A8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6AC8F-ED6F-48F1-9FD2-DB5379BD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2333625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B0B7E-1C5A-4B1F-9D0B-92F32322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D5FF"/>
                </a:solidFill>
              </a:defRPr>
            </a:pPr>
            <a:r>
              <a:rPr sz="1500" b="1">
                <a:solidFill>
                  <a:srgbClr val="78D5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17A05-66EE-479B-9BFE-7FA9A91F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FF"/>
                </a:solidFill>
              </a:defRPr>
            </a:pPr>
            <a:r>
              <a:rPr sz="1575" b="1">
                <a:solidFill>
                  <a:srgbClr val="F4F0FF"/>
                </a:solidFill>
              </a:rPr>
              <a:t>查看线索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BEEA0-18A3-4DEA-ABA8-0C07FA37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2CE"/>
                </a:solidFill>
              </a:defRPr>
            </a:pPr>
            <a:r>
              <a:rPr sz="1125" b="0">
                <a:solidFill>
                  <a:srgbClr val="B9B2CE"/>
                </a:solidFill>
              </a:rPr>
              <a:t>系统展示睡眠评分、关键词和 REM 时间轴。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3AD596-F406-49B0-9F27-272708FC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57400"/>
            <a:ext cx="2333625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C8171-E6CC-49AD-A35F-0080EF18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247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D5FF"/>
                </a:solidFill>
              </a:defRPr>
            </a:pPr>
            <a:r>
              <a:rPr sz="1500" b="1">
                <a:solidFill>
                  <a:srgbClr val="78D5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71F05F-E352-4AE7-BB53-1C6F3B30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908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FF"/>
                </a:solidFill>
              </a:defRPr>
            </a:pPr>
            <a:r>
              <a:rPr sz="1575" b="1">
                <a:solidFill>
                  <a:srgbClr val="F4F0FF"/>
                </a:solidFill>
              </a:rPr>
              <a:t>回答追问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0A0B5D-A5F8-4060-A97D-3BBE0321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2CE"/>
                </a:solidFill>
              </a:defRPr>
            </a:pPr>
            <a:r>
              <a:rPr sz="1125" b="0">
                <a:solidFill>
                  <a:srgbClr val="B9B2CE"/>
                </a:solidFill>
              </a:rPr>
              <a:t>用户选择最接近的画面、情绪和事件。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FEF5F-AC0F-4C78-A21C-545F27754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57400"/>
            <a:ext cx="2333625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CBF89-7687-41D0-86FA-73C79FCF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47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D5FF"/>
                </a:solidFill>
              </a:defRPr>
            </a:pPr>
            <a:r>
              <a:rPr sz="1500" b="1">
                <a:solidFill>
                  <a:srgbClr val="78D5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6FC80-927F-48E1-8265-CB2707C4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FF"/>
                </a:solidFill>
              </a:defRPr>
            </a:pPr>
            <a:r>
              <a:rPr sz="1575" b="1">
                <a:solidFill>
                  <a:srgbClr val="F4F0FF"/>
                </a:solidFill>
              </a:rPr>
              <a:t>确认草稿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0EFD2-1B06-473F-8FC6-76DC2E28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2CE"/>
                </a:solidFill>
              </a:defRPr>
            </a:pPr>
            <a:r>
              <a:rPr sz="1125" b="0">
                <a:solidFill>
                  <a:srgbClr val="B9B2CE"/>
                </a:solidFill>
              </a:rPr>
              <a:t>AI 汇总梦境理解，用户可继续微调。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70886-0C16-4667-ABDE-491D4C6F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057400"/>
            <a:ext cx="2333625" cy="1428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AD156-2394-4A9C-BE9C-3B9018F1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2479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8D5FF"/>
                </a:solidFill>
              </a:defRPr>
            </a:pPr>
            <a:r>
              <a:rPr sz="1500" b="1">
                <a:solidFill>
                  <a:srgbClr val="78D5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3D398-3CB4-4780-9205-0950537A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5908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0FF"/>
                </a:solidFill>
              </a:defRPr>
            </a:pPr>
            <a:r>
              <a:rPr sz="1575" b="1">
                <a:solidFill>
                  <a:srgbClr val="F4F0FF"/>
                </a:solidFill>
              </a:rPr>
              <a:t>保存结果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32D701-ACBC-4E01-A277-12890122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9B2CE"/>
                </a:solidFill>
              </a:defRPr>
            </a:pPr>
            <a:r>
              <a:rPr sz="1125" b="0">
                <a:solidFill>
                  <a:srgbClr val="B9B2CE"/>
                </a:solidFill>
              </a:rPr>
              <a:t>生成视频描述、分镜、解梦和健康建议。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226F00-4921-4A8B-8554-1C15C8DA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0FF"/>
                </a:solidFill>
              </a:defRPr>
            </a:pPr>
            <a:r>
              <a:rPr sz="1800" b="1">
                <a:solidFill>
                  <a:srgbClr val="F4F0FF"/>
                </a:solidFill>
              </a:rPr>
              <a:t>这个闭环让梦境记录从“写日记”升级为“可互动的多模态回忆”。</a:t>
            </a:r>
          </a:p>
        </p:txBody>
      </p:sp>
    </p:spTree>
    <p:extLst>
      <p:ext uri="{BB962C8B-B14F-4D97-AF65-F5344CB8AC3E}">
        <p14:creationId xmlns:p14="http://schemas.microsoft.com/office/powerpoint/2010/main" val="14182753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D63A6D-4C9B-4FDF-96FB-EA23D4B3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FF"/>
                </a:solidFill>
              </a:defRPr>
            </a:pPr>
            <a:r>
              <a:rPr sz="2850" b="1">
                <a:solidFill>
                  <a:srgbClr val="F4F0FF"/>
                </a:solidFill>
              </a:rPr>
              <a:t>原型已经覆盖输入、追问和结果页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28ABD-8CC7-486F-B506-B50FAEF6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移动端界面以深色梦境视觉呈现，突出睡眠线索和生成结果。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EE9AD-8737-4F26-9A3C-837ED7D6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84A8"/>
                </a:solidFill>
              </a:defRPr>
            </a:pPr>
            <a:r>
              <a:rPr sz="1050" b="0">
                <a:solidFill>
                  <a:srgbClr val="8C84A8"/>
                </a:solidFill>
              </a:rPr>
              <a:t>DreamEcho / 光宗耀组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0379E9-845D-4731-84C8-2EB374DA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C84A8"/>
                </a:solidFill>
              </a:defRPr>
            </a:pPr>
            <a:r>
              <a:rPr sz="1350" b="0">
                <a:solidFill>
                  <a:srgbClr val="8C84A8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62A41-5F95-49C8-81C3-91DF5E43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1952625" cy="398335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B0E1A"/>
          </a:solidFill>
          <a:ln xmlns:a="http://schemas.openxmlformats.org/drawingml/2006/main" w="19050">
            <a:solidFill>
              <a:srgbClr val="4A537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54A2B-0DB5-41A6-B7CD-52A2B7A6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47" y="1633347"/>
            <a:ext cx="1733931" cy="3764661"/>
          </a:xfrm>
          <a:prstGeom xmlns:a="http://schemas.openxmlformats.org/drawingml/2006/main" prst="roundRect">
            <a:avLst>
              <a:gd name="adj" fmla="val 2197"/>
            </a:avLst>
          </a:prstGeom>
          <a:solidFill xmlns:a="http://schemas.openxmlformats.org/drawingml/2006/main">
            <a:srgbClr val="11162A"/>
          </a:solidFill>
          <a:ln xmlns:a="http://schemas.openxmlformats.org/drawingml/2006/main" w="9525">
            <a:solidFill>
              <a:srgbClr val="27315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DB956F-83C2-4F9D-A153-65EF2EAC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94" y="1773936"/>
            <a:ext cx="937260" cy="12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78D5FF"/>
                </a:solidFill>
              </a:defRPr>
            </a:pPr>
            <a:r>
              <a:rPr sz="615" b="1">
                <a:solidFill>
                  <a:srgbClr val="78D5FF"/>
                </a:solidFill>
              </a:rPr>
              <a:t>DreamEcho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694DE-9C71-42E1-9E9D-DC5A26EE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94" y="1930146"/>
            <a:ext cx="1312164" cy="218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8" b="1">
                <a:solidFill>
                  <a:srgbClr val="F4F0FF"/>
                </a:solidFill>
              </a:defRPr>
            </a:pPr>
            <a:r>
              <a:rPr sz="1168" b="1">
                <a:solidFill>
                  <a:srgbClr val="F4F0FF"/>
                </a:solidFill>
              </a:rPr>
              <a:t>梦境重现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F1CDF-DF39-4523-9C0D-0019A9AE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94" y="2305050"/>
            <a:ext cx="1515237" cy="984123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282047"/>
          </a:solidFill>
          <a:ln xmlns:a="http://schemas.openxmlformats.org/drawingml/2006/main" w="9525">
            <a:solidFill>
              <a:srgbClr val="544B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DD803B-BC89-4BE2-89A9-1C91B88E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341" y="2664333"/>
            <a:ext cx="1234059" cy="421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F4F0FF"/>
                </a:solidFill>
              </a:defRPr>
            </a:pPr>
            <a:r>
              <a:rPr sz="800" b="1">
                <a:solidFill>
                  <a:srgbClr val="F4F0FF"/>
                </a:solidFill>
              </a:rPr>
              <a:t>AI 将用睡眠数据和描述，重建接近主观记忆的梦境视频。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44F5A-16FA-4AC5-AC1C-47DE703F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94" y="3429762"/>
            <a:ext cx="687324" cy="562356"/>
          </a:xfrm>
          <a:prstGeom xmlns:a="http://schemas.openxmlformats.org/drawingml/2006/main" prst="roundRect">
            <a:avLst>
              <a:gd name="adj" fmla="val 6775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EBAE1-C793-4B61-B2CF-DB66973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539109"/>
            <a:ext cx="484251" cy="12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4" b="0">
                <a:solidFill>
                  <a:srgbClr val="B9B2CE"/>
                </a:solidFill>
              </a:defRPr>
            </a:pPr>
            <a:r>
              <a:rPr sz="554" b="0">
                <a:solidFill>
                  <a:srgbClr val="B9B2CE"/>
                </a:solidFill>
              </a:rPr>
              <a:t>睡眠评分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A845B-BB9D-42DA-97F2-4C301F38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679698"/>
            <a:ext cx="421767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76" b="1">
                <a:solidFill>
                  <a:srgbClr val="F4F0FF"/>
                </a:solidFill>
              </a:defRPr>
            </a:pPr>
            <a:r>
              <a:rPr sz="1476" b="1">
                <a:solidFill>
                  <a:srgbClr val="F4F0FF"/>
                </a:solidFill>
              </a:rPr>
              <a:t>78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84A1BF-2921-4824-94EB-F6251CBE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2907" y="3429762"/>
            <a:ext cx="687324" cy="562356"/>
          </a:xfrm>
          <a:prstGeom xmlns:a="http://schemas.openxmlformats.org/drawingml/2006/main" prst="roundRect">
            <a:avLst>
              <a:gd name="adj" fmla="val 6775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A33ADF-0CCF-4DA3-9D69-459A6E3C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633" y="3539109"/>
            <a:ext cx="484251" cy="12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54" b="0">
                <a:solidFill>
                  <a:srgbClr val="B9B2CE"/>
                </a:solidFill>
              </a:defRPr>
            </a:pPr>
            <a:r>
              <a:rPr sz="554" b="0">
                <a:solidFill>
                  <a:srgbClr val="B9B2CE"/>
                </a:solidFill>
              </a:rPr>
              <a:t>压力信号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3F229-5FE2-47CE-AA06-0AAF787A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633" y="3679698"/>
            <a:ext cx="421767" cy="2343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76" b="1">
                <a:solidFill>
                  <a:srgbClr val="F4F0FF"/>
                </a:solidFill>
              </a:defRPr>
            </a:pPr>
            <a:r>
              <a:rPr sz="1476" b="1">
                <a:solidFill>
                  <a:srgbClr val="F4F0FF"/>
                </a:solidFill>
              </a:rPr>
              <a:t>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D7F87E-3BB8-4F9D-AC0D-CC9771A24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" y="4163949"/>
            <a:ext cx="406146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78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385FE0-7FCD-48D5-840F-E4412B5A0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" y="4240149"/>
            <a:ext cx="17754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5FF"/>
                </a:solidFill>
              </a:defRPr>
            </a:pPr>
            <a:r>
              <a:rPr sz="1050" b="1">
                <a:solidFill>
                  <a:srgbClr val="78D5FF"/>
                </a:solidFill>
              </a:rPr>
              <a:t>海边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0D04E-FA00-4CFF-B4B4-DD015F0C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9245" y="4163949"/>
            <a:ext cx="328041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A98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ED17AA-6830-4FB3-AFD8-7D4D1997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3545" y="4240149"/>
            <a:ext cx="99441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8CFF"/>
                </a:solidFill>
              </a:defRPr>
            </a:pPr>
            <a:r>
              <a:rPr sz="1050" b="1">
                <a:solidFill>
                  <a:srgbClr val="A98CFF"/>
                </a:solidFill>
              </a:rPr>
              <a:t>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10D0A-E203-4FC0-9A4E-408019C5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9770" y="4163949"/>
            <a:ext cx="562356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FFD3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6ED5F-287A-40FB-80E2-7F0B81674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4070" y="4240149"/>
            <a:ext cx="333756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38A"/>
                </a:solidFill>
              </a:defRPr>
            </a:pPr>
            <a:r>
              <a:rPr sz="1050" b="1">
                <a:solidFill>
                  <a:srgbClr val="FFD38A"/>
                </a:solidFill>
              </a:rPr>
              <a:t>找不到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B83AFB-0C4F-4A88-99C2-A8406D32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524000"/>
            <a:ext cx="1952625" cy="398335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B0E1A"/>
          </a:solidFill>
          <a:ln xmlns:a="http://schemas.openxmlformats.org/drawingml/2006/main" w="19050">
            <a:solidFill>
              <a:srgbClr val="4A537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A625F-890C-42A3-8A17-AB135B2B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047" y="1633347"/>
            <a:ext cx="1733931" cy="3764661"/>
          </a:xfrm>
          <a:prstGeom xmlns:a="http://schemas.openxmlformats.org/drawingml/2006/main" prst="roundRect">
            <a:avLst>
              <a:gd name="adj" fmla="val 2197"/>
            </a:avLst>
          </a:prstGeom>
          <a:solidFill xmlns:a="http://schemas.openxmlformats.org/drawingml/2006/main">
            <a:srgbClr val="11162A"/>
          </a:solidFill>
          <a:ln xmlns:a="http://schemas.openxmlformats.org/drawingml/2006/main" w="9525">
            <a:solidFill>
              <a:srgbClr val="27315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BEAFAD-DA60-4CAC-B67B-AAC3353C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94" y="1773936"/>
            <a:ext cx="937260" cy="12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78D5FF"/>
                </a:solidFill>
              </a:defRPr>
            </a:pPr>
            <a:r>
              <a:rPr sz="615" b="1">
                <a:solidFill>
                  <a:srgbClr val="78D5FF"/>
                </a:solidFill>
              </a:rPr>
              <a:t>DreamEcho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C282B2-BD20-414C-B0F3-304EBE805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94" y="1930146"/>
            <a:ext cx="1312164" cy="218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8" b="1">
                <a:solidFill>
                  <a:srgbClr val="F4F0FF"/>
                </a:solidFill>
              </a:defRPr>
            </a:pPr>
            <a:r>
              <a:rPr sz="1168" b="1">
                <a:solidFill>
                  <a:srgbClr val="F4F0FF"/>
                </a:solidFill>
              </a:rPr>
              <a:t>梦境追问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AD48CC-ADA8-4A65-B8FD-11C81876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94" y="2305050"/>
            <a:ext cx="1171575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8" b="1">
                <a:solidFill>
                  <a:srgbClr val="A98CFF"/>
                </a:solidFill>
              </a:defRPr>
            </a:pPr>
            <a:r>
              <a:rPr sz="738" b="1">
                <a:solidFill>
                  <a:srgbClr val="A98CFF"/>
                </a:solidFill>
              </a:rPr>
              <a:t>第 1 轮：画面与视觉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98E715-1ACD-42B4-B5C7-F8F68AB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94" y="2554986"/>
            <a:ext cx="1483995" cy="3749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F4F0FF"/>
                </a:solidFill>
              </a:defRPr>
            </a:pPr>
            <a:r>
              <a:rPr sz="923" b="1">
                <a:solidFill>
                  <a:srgbClr val="F4F0FF"/>
                </a:solidFill>
              </a:rPr>
              <a:t>哪一个画面最接近你的梦？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A519FF-2D2A-4449-9CC2-AA9B8F74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94" y="3164205"/>
            <a:ext cx="1515237" cy="406146"/>
          </a:xfrm>
          <a:prstGeom xmlns:a="http://schemas.openxmlformats.org/drawingml/2006/main" prst="roundRect">
            <a:avLst>
              <a:gd name="adj" fmla="val 9381"/>
            </a:avLst>
          </a:prstGeom>
          <a:solidFill xmlns:a="http://schemas.openxmlformats.org/drawingml/2006/main">
            <a:srgbClr val="253351"/>
          </a:solidFill>
          <a:ln xmlns:a="http://schemas.openxmlformats.org/drawingml/2006/main" w="9525">
            <a:solidFill>
              <a:srgbClr val="78D5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A9CBA0-D743-4DD7-BDAB-4E274C4ED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741" y="3289173"/>
            <a:ext cx="140589" cy="12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8" b="1">
                <a:solidFill>
                  <a:srgbClr val="78D5FF"/>
                </a:solidFill>
              </a:defRPr>
            </a:pPr>
            <a:r>
              <a:rPr sz="738" b="1">
                <a:solidFill>
                  <a:srgbClr val="78D5FF"/>
                </a:solidFill>
              </a:rPr>
              <a:t>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55250D-9BF7-4124-B714-25719BC5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814" y="3273552"/>
            <a:ext cx="101536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7" b="0">
                <a:solidFill>
                  <a:srgbClr val="F4F0FF"/>
                </a:solidFill>
              </a:defRPr>
            </a:pPr>
            <a:r>
              <a:rPr sz="677" b="0">
                <a:solidFill>
                  <a:srgbClr val="F4F0FF"/>
                </a:solidFill>
              </a:rPr>
              <a:t>夜晚海边，有发光的门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F1E449-B257-4404-8201-4DE21A65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94" y="3710940"/>
            <a:ext cx="1515237" cy="406146"/>
          </a:xfrm>
          <a:prstGeom xmlns:a="http://schemas.openxmlformats.org/drawingml/2006/main" prst="roundRect">
            <a:avLst>
              <a:gd name="adj" fmla="val 9381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FFC487-17DC-45EF-A11C-24C0857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741" y="3835908"/>
            <a:ext cx="140589" cy="12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8" b="1">
                <a:solidFill>
                  <a:srgbClr val="78D5FF"/>
                </a:solidFill>
              </a:defRPr>
            </a:pPr>
            <a:r>
              <a:rPr sz="738" b="1">
                <a:solidFill>
                  <a:srgbClr val="78D5FF"/>
                </a:solidFill>
              </a:rPr>
              <a:t>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D5FEB7-D551-488A-B553-7503A416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814" y="3820287"/>
            <a:ext cx="101536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7" b="0">
                <a:solidFill>
                  <a:srgbClr val="F4F0FF"/>
                </a:solidFill>
              </a:defRPr>
            </a:pPr>
            <a:r>
              <a:rPr sz="677" b="0">
                <a:solidFill>
                  <a:srgbClr val="F4F0FF"/>
                </a:solidFill>
              </a:rPr>
              <a:t>狭长走廊，门打不开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1E9BB5-8618-42CE-81CD-1AF194F5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94" y="4257675"/>
            <a:ext cx="1515237" cy="406146"/>
          </a:xfrm>
          <a:prstGeom xmlns:a="http://schemas.openxmlformats.org/drawingml/2006/main" prst="roundRect">
            <a:avLst>
              <a:gd name="adj" fmla="val 9381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E2AAE8-A85E-4595-AFA1-84283425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741" y="4382643"/>
            <a:ext cx="140589" cy="12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38" b="1">
                <a:solidFill>
                  <a:srgbClr val="78D5FF"/>
                </a:solidFill>
              </a:defRPr>
            </a:pPr>
            <a:r>
              <a:rPr sz="738" b="1">
                <a:solidFill>
                  <a:srgbClr val="78D5FF"/>
                </a:solidFill>
              </a:rPr>
              <a:t>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13CE56-02D7-4BCB-BBE5-609AE973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814" y="4367022"/>
            <a:ext cx="1015365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7" b="0">
                <a:solidFill>
                  <a:srgbClr val="F4F0FF"/>
                </a:solidFill>
              </a:defRPr>
            </a:pPr>
            <a:r>
              <a:rPr sz="677" b="0">
                <a:solidFill>
                  <a:srgbClr val="F4F0FF"/>
                </a:solidFill>
              </a:rPr>
              <a:t>熟悉房间，门后暖光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F46E9C-B901-4E31-A111-756AF41A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24000"/>
            <a:ext cx="1952625" cy="398335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0B0E1A"/>
          </a:solidFill>
          <a:ln xmlns:a="http://schemas.openxmlformats.org/drawingml/2006/main" w="19050">
            <a:solidFill>
              <a:srgbClr val="4A537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0083B3-3140-412C-A599-3654CA32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0447" y="1633347"/>
            <a:ext cx="1733931" cy="3764661"/>
          </a:xfrm>
          <a:prstGeom xmlns:a="http://schemas.openxmlformats.org/drawingml/2006/main" prst="roundRect">
            <a:avLst>
              <a:gd name="adj" fmla="val 2197"/>
            </a:avLst>
          </a:prstGeom>
          <a:solidFill xmlns:a="http://schemas.openxmlformats.org/drawingml/2006/main">
            <a:srgbClr val="11162A"/>
          </a:solidFill>
          <a:ln xmlns:a="http://schemas.openxmlformats.org/drawingml/2006/main" w="9525">
            <a:solidFill>
              <a:srgbClr val="27315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43D079-B1B6-47BC-94A1-3A5CBC58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94" y="1773936"/>
            <a:ext cx="937260" cy="1249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" b="1">
                <a:solidFill>
                  <a:srgbClr val="78D5FF"/>
                </a:solidFill>
              </a:defRPr>
            </a:pPr>
            <a:r>
              <a:rPr sz="615" b="1">
                <a:solidFill>
                  <a:srgbClr val="78D5FF"/>
                </a:solidFill>
              </a:rPr>
              <a:t>DreamEcho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181DC0-FF3C-4A84-A62B-146CF233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94" y="1930146"/>
            <a:ext cx="1312164" cy="2186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8" b="1">
                <a:solidFill>
                  <a:srgbClr val="F4F0FF"/>
                </a:solidFill>
              </a:defRPr>
            </a:pPr>
            <a:r>
              <a:rPr sz="1168" b="1">
                <a:solidFill>
                  <a:srgbClr val="F4F0FF"/>
                </a:solidFill>
              </a:rPr>
              <a:t>梦境重现结果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1491C6-D394-43E4-9BF2-303B1767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94" y="2273808"/>
            <a:ext cx="1515237" cy="921639"/>
          </a:xfrm>
          <a:prstGeom xmlns:a="http://schemas.openxmlformats.org/drawingml/2006/main" prst="roundRect">
            <a:avLst>
              <a:gd name="adj" fmla="val 4134"/>
            </a:avLst>
          </a:prstGeom>
          <a:solidFill xmlns:a="http://schemas.openxmlformats.org/drawingml/2006/main">
            <a:srgbClr val="241D42"/>
          </a:solidFill>
          <a:ln xmlns:a="http://schemas.openxmlformats.org/drawingml/2006/main" w="9525">
            <a:solidFill>
              <a:srgbClr val="53467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EA8C12-BE5E-4E90-93E1-6FFB455B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762" y="2929890"/>
            <a:ext cx="1015365" cy="1874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F4F0FF"/>
                </a:solidFill>
              </a:defRPr>
            </a:pPr>
            <a:r>
              <a:rPr sz="800" b="1">
                <a:solidFill>
                  <a:srgbClr val="F4F0FF"/>
                </a:solidFill>
              </a:rPr>
              <a:t>夜海尽头的门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ECE352-E8B0-4AB0-B8C6-A50935C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94" y="3398520"/>
            <a:ext cx="124968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F4F0FF"/>
                </a:solidFill>
              </a:defRPr>
            </a:pPr>
            <a:r>
              <a:rPr sz="800" b="1">
                <a:solidFill>
                  <a:srgbClr val="F4F0FF"/>
                </a:solidFill>
              </a:rPr>
              <a:t>视频生成 Prompt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289CEB-9E8B-43F9-9E6C-ED59655C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94" y="3617214"/>
            <a:ext cx="1468374" cy="4530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46" b="0">
                <a:solidFill>
                  <a:srgbClr val="B9B2CE"/>
                </a:solidFill>
              </a:defRPr>
            </a:pPr>
            <a:r>
              <a:rPr sz="646" b="0">
                <a:solidFill>
                  <a:srgbClr val="B9B2CE"/>
                </a:solidFill>
              </a:rPr>
              <a:t>电影感梦境重现：夜晚海边、紫色天空、发光的门、低频海浪声。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D08AD8-ADBD-4615-83AB-644303F3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9794" y="4257675"/>
            <a:ext cx="1249680" cy="156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00" b="1">
                <a:solidFill>
                  <a:srgbClr val="F4F0FF"/>
                </a:solidFill>
              </a:defRPr>
            </a:pPr>
            <a:r>
              <a:rPr sz="800" b="1">
                <a:solidFill>
                  <a:srgbClr val="F4F0FF"/>
                </a:solidFill>
              </a:rPr>
              <a:t>AI 相似度分析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598696-FA38-4920-8F43-8EF9951C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6657" y="4507611"/>
            <a:ext cx="546735" cy="265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38" b="1">
                <a:solidFill>
                  <a:srgbClr val="78D5FF"/>
                </a:solidFill>
              </a:defRPr>
            </a:pPr>
            <a:r>
              <a:rPr sz="1538" b="1">
                <a:solidFill>
                  <a:srgbClr val="78D5FF"/>
                </a:solidFill>
              </a:rPr>
              <a:t>82%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BB0DFD4-9207-4577-AB66-21A03CCD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876" y="4585716"/>
            <a:ext cx="702945" cy="1405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B9B2CE"/>
                </a:solidFill>
              </a:defRPr>
            </a:pPr>
            <a:r>
              <a:rPr sz="615" b="0">
                <a:solidFill>
                  <a:srgbClr val="B9B2CE"/>
                </a:solidFill>
              </a:rPr>
              <a:t>预计梦境贴近度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DC1A63-10BE-4924-8B88-BDB9592D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10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8D5FF"/>
                </a:solidFill>
              </a:defRPr>
            </a:pPr>
            <a:r>
              <a:rPr sz="1350" b="1">
                <a:solidFill>
                  <a:srgbClr val="78D5FF"/>
                </a:solidFill>
              </a:rPr>
              <a:t>首页：整理梦境线索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138B14-B19D-42CC-A914-0E8B4366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810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98CFF"/>
                </a:solidFill>
              </a:defRPr>
            </a:pPr>
            <a:r>
              <a:rPr sz="1350" b="1">
                <a:solidFill>
                  <a:srgbClr val="A98CFF"/>
                </a:solidFill>
              </a:rPr>
              <a:t>追问：收集主观补充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EE4E16-8E02-4957-A556-43E65859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8102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D38A"/>
                </a:solidFill>
              </a:defRPr>
            </a:pPr>
            <a:r>
              <a:rPr sz="1350" b="1">
                <a:solidFill>
                  <a:srgbClr val="FFD38A"/>
                </a:solidFill>
              </a:rPr>
              <a:t>结果：生成内容与解释</a:t>
            </a:r>
          </a:p>
        </p:txBody>
      </p:sp>
    </p:spTree>
    <p:extLst>
      <p:ext uri="{BB962C8B-B14F-4D97-AF65-F5344CB8AC3E}">
        <p14:creationId xmlns:p14="http://schemas.microsoft.com/office/powerpoint/2010/main" val="31394219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CA007B-19F2-4CDC-890A-D80AD077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FF"/>
                </a:solidFill>
              </a:defRPr>
            </a:pPr>
            <a:r>
              <a:rPr sz="2850" b="1">
                <a:solidFill>
                  <a:srgbClr val="F4F0FF"/>
                </a:solidFill>
              </a:rPr>
              <a:t>AI 逻辑把客观信号转成生成素材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B6B56-B377-4440-8B1D-F4C2430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每个输入都对应到画面、情绪或可信度判断，方便后续接入视频模型。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532F6-CA12-4008-8791-FD761FA85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84A8"/>
                </a:solidFill>
              </a:defRPr>
            </a:pPr>
            <a:r>
              <a:rPr sz="1050" b="0">
                <a:solidFill>
                  <a:srgbClr val="8C84A8"/>
                </a:solidFill>
              </a:rPr>
              <a:t>DreamEcho / 光宗耀组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F7FE07-10E6-4E88-8783-06C9D6D6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C84A8"/>
                </a:solidFill>
              </a:defRPr>
            </a:pPr>
            <a:r>
              <a:rPr sz="1350" b="0">
                <a:solidFill>
                  <a:srgbClr val="8C84A8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4D8919-07CF-4BDA-AF11-388752F3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895850" cy="3429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53D70-82CA-494E-9B27-B0319079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90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FF"/>
                </a:solidFill>
              </a:defRPr>
            </a:pPr>
            <a:r>
              <a:rPr sz="2025" b="1">
                <a:solidFill>
                  <a:srgbClr val="F4F0FF"/>
                </a:solidFill>
              </a:rPr>
              <a:t>输入信号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20AF9-4ED2-4127-861E-228730E4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81300"/>
            <a:ext cx="3143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78D5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7FA499-E63E-4AEA-8888-76CE271F4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5FF"/>
                </a:solidFill>
              </a:defRPr>
            </a:pPr>
            <a:r>
              <a:rPr sz="1050" b="1">
                <a:solidFill>
                  <a:srgbClr val="78D5FF"/>
                </a:solidFill>
              </a:rPr>
              <a:t>REM 03:12-03:35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1689C-B5B2-45CA-ABB1-CF863F576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76600"/>
            <a:ext cx="3143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A9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E67C52-B545-4203-9EE9-313505A7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8CFF"/>
                </a:solidFill>
              </a:defRPr>
            </a:pPr>
            <a:r>
              <a:rPr sz="1050" b="1">
                <a:solidFill>
                  <a:srgbClr val="A98CFF"/>
                </a:solidFill>
              </a:rPr>
              <a:t>心率 62→78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313F4B-23A5-4579-A9E7-E416FEAE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71900"/>
            <a:ext cx="3143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FFD3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802506-76E3-4C6B-B64A-481B17F8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38A"/>
                </a:solidFill>
              </a:defRPr>
            </a:pPr>
            <a:r>
              <a:rPr sz="1050" b="1">
                <a:solidFill>
                  <a:srgbClr val="FFD38A"/>
                </a:solidFill>
              </a:rPr>
              <a:t>梦话：不要走 / 门打不开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2976AA-C331-4E13-BB2B-8F33D83E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67200"/>
            <a:ext cx="3143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8DF2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8DF24-99D2-469E-B01D-92A77A7F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43400"/>
            <a:ext cx="2914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DF2C7"/>
                </a:solidFill>
              </a:defRPr>
            </a:pPr>
            <a:r>
              <a:rPr sz="1050" b="1">
                <a:solidFill>
                  <a:srgbClr val="8DF2C7"/>
                </a:solidFill>
              </a:rPr>
              <a:t>连续翻身与呼吸变快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3C15C-E969-41EE-9381-7BCC0BF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885950"/>
            <a:ext cx="4895850" cy="3429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343A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50632C-BFC1-4A6A-9471-156ABFD0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190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0FF"/>
                </a:solidFill>
              </a:defRPr>
            </a:pPr>
            <a:r>
              <a:rPr sz="2025" b="1">
                <a:solidFill>
                  <a:srgbClr val="F4F0FF"/>
                </a:solidFill>
              </a:rPr>
              <a:t>生成素材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6C6F9-5F18-481F-A8DF-BCDB1F9C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3524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78D5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637746-76A6-4110-BF0C-54BA8923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575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8D5FF"/>
                </a:solidFill>
              </a:defRPr>
            </a:pPr>
            <a:r>
              <a:rPr sz="1050" b="1">
                <a:solidFill>
                  <a:srgbClr val="78D5FF"/>
                </a:solidFill>
              </a:rPr>
              <a:t>环境：夜晚海边 / 童年家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CCBF1A-63DE-4753-9886-4CCC6A58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76600"/>
            <a:ext cx="3524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A98C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BFAE97-F0F1-42F5-B384-CD0EAE3C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528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8CFF"/>
                </a:solidFill>
              </a:defRPr>
            </a:pPr>
            <a:r>
              <a:rPr sz="1050" b="1">
                <a:solidFill>
                  <a:srgbClr val="A98CFF"/>
                </a:solidFill>
              </a:rPr>
              <a:t>色彩：深紫、冷蓝、暖金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88E5BB-8A2E-432F-A471-4A72D418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771900"/>
            <a:ext cx="3524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FFD3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86D5DB-7520-4EED-9D24-6B9F17AA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8481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D38A"/>
                </a:solidFill>
              </a:defRPr>
            </a:pPr>
            <a:r>
              <a:rPr sz="1050" b="1">
                <a:solidFill>
                  <a:srgbClr val="FFD38A"/>
                </a:solidFill>
              </a:rPr>
              <a:t>情绪：焦虑、孤独、寻找安全感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435A9-9DCB-4D53-94A9-A5C1F2A3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67200"/>
            <a:ext cx="3524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B2039"/>
          </a:solidFill>
          <a:ln xmlns:a="http://schemas.openxmlformats.org/drawingml/2006/main" w="9525">
            <a:solidFill>
              <a:srgbClr val="8DF2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E00FE-730F-44CD-AC47-64965EB5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343400"/>
            <a:ext cx="3295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DF2C7"/>
                </a:solidFill>
              </a:defRPr>
            </a:pPr>
            <a:r>
              <a:rPr sz="1050" b="1">
                <a:solidFill>
                  <a:srgbClr val="8DF2C7"/>
                </a:solidFill>
              </a:rPr>
              <a:t>输出：Prompt、分镜、配乐、相似度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90E92F-E4FC-4437-AE7B-34EB02355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531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8D5FF"/>
                </a:solidFill>
              </a:defRPr>
            </a:pPr>
            <a:r>
              <a:rPr sz="1650" b="1">
                <a:solidFill>
                  <a:srgbClr val="78D5FF"/>
                </a:solidFill>
              </a:rPr>
              <a:t>设计重点不是“猜中梦”，而是让用户能看见 AI 的依据，并持续修正。</a:t>
            </a:r>
          </a:p>
        </p:txBody>
      </p:sp>
    </p:spTree>
    <p:extLst>
      <p:ext uri="{BB962C8B-B14F-4D97-AF65-F5344CB8AC3E}">
        <p14:creationId xmlns:p14="http://schemas.microsoft.com/office/powerpoint/2010/main" val="202233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CEEEE7-50EE-42CF-9EC2-AF380191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FF"/>
                </a:solidFill>
              </a:defRPr>
            </a:pPr>
            <a:r>
              <a:rPr sz="2850" b="1">
                <a:solidFill>
                  <a:srgbClr val="F4F0FF"/>
                </a:solidFill>
              </a:rPr>
              <a:t>核心价值是形成个人梦境档案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FAEED-96F7-4E5A-A808-4296A299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视频只是入口，长期价值来自可回看、可理解、可对照的梦境记录。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BB34B8-10A7-4711-88E6-30FAEE555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84A8"/>
                </a:solidFill>
              </a:defRPr>
            </a:pPr>
            <a:r>
              <a:rPr sz="1050" b="0">
                <a:solidFill>
                  <a:srgbClr val="8C84A8"/>
                </a:solidFill>
              </a:rPr>
              <a:t>DreamEcho / 光宗耀组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FA3038-86D2-4C16-8A25-C7AE62B2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C84A8"/>
                </a:solidFill>
              </a:defRPr>
            </a:pPr>
            <a:r>
              <a:rPr sz="1350" b="0">
                <a:solidFill>
                  <a:srgbClr val="8C84A8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6E385-E1BA-4093-B006-CAE8A71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44958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78D5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10072D-0981-4378-874F-E1F3E96C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FF"/>
                </a:solidFill>
              </a:defRPr>
            </a:pPr>
            <a:r>
              <a:rPr sz="1875" b="1">
                <a:solidFill>
                  <a:srgbClr val="F4F0FF"/>
                </a:solidFill>
              </a:rPr>
              <a:t>梦境视频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16E4B9-EB2A-4B31-8821-4037EE4F9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2CE"/>
                </a:solidFill>
              </a:defRPr>
            </a:pPr>
            <a:r>
              <a:rPr sz="1275" b="0">
                <a:solidFill>
                  <a:srgbClr val="B9B2CE"/>
                </a:solidFill>
              </a:rPr>
              <a:t>将模糊记忆转化为可观看片段，提高记录动力。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6F2101-9413-49D3-AEF9-D514F6F1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44958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A98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612C6-9D35-49AA-8A7D-E06A1A1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FF"/>
                </a:solidFill>
              </a:defRPr>
            </a:pPr>
            <a:r>
              <a:rPr sz="1875" b="1">
                <a:solidFill>
                  <a:srgbClr val="F4F0FF"/>
                </a:solidFill>
              </a:rPr>
              <a:t>温和解读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449C1-E093-4FE4-83CF-CC601DD5F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670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2CE"/>
                </a:solidFill>
              </a:defRPr>
            </a:pPr>
            <a:r>
              <a:rPr sz="1275" b="0">
                <a:solidFill>
                  <a:srgbClr val="B9B2CE"/>
                </a:solidFill>
              </a:rPr>
              <a:t>把门、海边、寻找等符号解释成自我观察线索，并保留非诊断边界。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19CB8-10DB-42C2-91E6-AA3188CB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52850"/>
            <a:ext cx="44958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FFD3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5D8AB-C247-4719-BD78-70EC9C1C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FF"/>
                </a:solidFill>
              </a:defRPr>
            </a:pPr>
            <a:r>
              <a:rPr sz="1875" b="1">
                <a:solidFill>
                  <a:srgbClr val="F4F0FF"/>
                </a:solidFill>
              </a:rPr>
              <a:t>健康建议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3DDC1D-4B48-438F-AE34-7DD5B68B7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815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2CE"/>
                </a:solidFill>
              </a:defRPr>
            </a:pPr>
            <a:r>
              <a:rPr sz="1275" b="0">
                <a:solidFill>
                  <a:srgbClr val="B9B2CE"/>
                </a:solidFill>
              </a:rPr>
              <a:t>基于压力信号给出睡前放松、作息和求助提醒。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385402-1A5E-4839-916C-911A767E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52850"/>
            <a:ext cx="4495800" cy="1200150"/>
          </a:xfrm>
          <a:prstGeom xmlns:a="http://schemas.openxmlformats.org/drawingml/2006/main" prst="roundRect">
            <a:avLst>
              <a:gd name="adj" fmla="val 3175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8DF2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52322E-0FBF-4CC3-9F6D-37EFD017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814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0FF"/>
                </a:solidFill>
              </a:defRPr>
            </a:pPr>
            <a:r>
              <a:rPr sz="1875" b="1">
                <a:solidFill>
                  <a:srgbClr val="F4F0FF"/>
                </a:solidFill>
              </a:rPr>
              <a:t>梦境日记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DFF72-4B96-470D-AE1C-BC6B77ED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8150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B2CE"/>
                </a:solidFill>
              </a:defRPr>
            </a:pPr>
            <a:r>
              <a:rPr sz="1275" b="0">
                <a:solidFill>
                  <a:srgbClr val="B9B2CE"/>
                </a:solidFill>
              </a:rPr>
              <a:t>保存历史梦境、关键词、相似度和压力变化。</a:t>
            </a:r>
          </a:p>
        </p:txBody>
      </p:sp>
    </p:spTree>
    <p:extLst>
      <p:ext uri="{BB962C8B-B14F-4D97-AF65-F5344CB8AC3E}">
        <p14:creationId xmlns:p14="http://schemas.microsoft.com/office/powerpoint/2010/main" val="19417878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90B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3F066F-4554-4B5B-B4B9-112DA826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4F0FF"/>
                </a:solidFill>
              </a:defRPr>
            </a:pPr>
            <a:r>
              <a:rPr sz="2850" b="1">
                <a:solidFill>
                  <a:srgbClr val="F4F0FF"/>
                </a:solidFill>
              </a:rPr>
              <a:t>下一步把演示原型推向可用产品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D5214B-378E-4282-A0C0-C2FF4C72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9B2CE"/>
                </a:solidFill>
              </a:defRPr>
            </a:pPr>
            <a:r>
              <a:rPr sz="1350" b="0">
                <a:solidFill>
                  <a:srgbClr val="B9B2CE"/>
                </a:solidFill>
              </a:rPr>
              <a:t>当前版本已经适合路演，后续重点是数据接入、模型能力和安全边界。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F5269-87BD-431C-ADA5-20450325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C84A8"/>
                </a:solidFill>
              </a:defRPr>
            </a:pPr>
            <a:r>
              <a:rPr sz="1050" b="0">
                <a:solidFill>
                  <a:srgbClr val="8C84A8"/>
                </a:solidFill>
              </a:rPr>
              <a:t>DreamEcho / 光宗耀组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E88C3-FA9D-4BA7-86BD-D2888E5E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286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8C84A8"/>
                </a:solidFill>
              </a:defRPr>
            </a:pPr>
            <a:r>
              <a:rPr sz="1350" b="0">
                <a:solidFill>
                  <a:srgbClr val="8C84A8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F90D5-5983-4D04-B12B-020BACAE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81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8D5FF"/>
                </a:solidFill>
              </a:defRPr>
            </a:pPr>
            <a:r>
              <a:rPr sz="2100" b="1">
                <a:solidFill>
                  <a:srgbClr val="78D5FF"/>
                </a:solidFill>
              </a:rPr>
              <a:t>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65F0C-F9F2-45CF-9584-2433E1B8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924050"/>
            <a:ext cx="81724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78D5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BFA6E-A737-4E78-BF5B-13F557E0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14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</a:defRPr>
            </a:pPr>
            <a:r>
              <a:rPr sz="1500" b="0">
                <a:solidFill>
                  <a:srgbClr val="F4F0FF"/>
                </a:solidFill>
              </a:rPr>
              <a:t>接入真实可穿戴数据与录音转写，完善本地隐私提示。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38A27-AC27-421E-A3E2-0870D592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24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98CFF"/>
                </a:solidFill>
              </a:defRPr>
            </a:pPr>
            <a:r>
              <a:rPr sz="2100" b="1">
                <a:solidFill>
                  <a:srgbClr val="A98CFF"/>
                </a:solidFill>
              </a:rPr>
              <a:t>中期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4071C-C35A-4488-821E-39E6E4CA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67050"/>
            <a:ext cx="81724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A98C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FC345-8509-4E27-998F-64E0B7A33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57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</a:defRPr>
            </a:pPr>
            <a:r>
              <a:rPr sz="1500" b="0">
                <a:solidFill>
                  <a:srgbClr val="F4F0FF"/>
                </a:solidFill>
              </a:rPr>
              <a:t>连接图像/视频生成模型，输出可预览的短视频片段。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73AE3-9C5F-40BE-8448-09A5512A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D38A"/>
                </a:solidFill>
              </a:defRPr>
            </a:pPr>
            <a:r>
              <a:rPr sz="2100" b="1">
                <a:solidFill>
                  <a:srgbClr val="FFD38A"/>
                </a:solidFill>
              </a:rPr>
              <a:t>长期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59239B-51BB-421B-ADFF-203DFF28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10050"/>
            <a:ext cx="8172450" cy="666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1B31"/>
          </a:solidFill>
          <a:ln xmlns:a="http://schemas.openxmlformats.org/drawingml/2006/main" w="9525">
            <a:solidFill>
              <a:srgbClr val="FFD3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41ED14-2069-4774-98A3-601F45C65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0FF"/>
                </a:solidFill>
              </a:defRPr>
            </a:pPr>
            <a:r>
              <a:rPr sz="1500" b="0">
                <a:solidFill>
                  <a:srgbClr val="F4F0FF"/>
                </a:solidFill>
              </a:rPr>
              <a:t>建立梦境档案分析，观察睡眠、情绪和压力的长期关系。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04E37-72AF-4D1F-A2B7-A6613B36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78D5FF"/>
                </a:solidFill>
              </a:defRPr>
            </a:pPr>
            <a:r>
              <a:rPr sz="1725" b="1">
                <a:solidFill>
                  <a:srgbClr val="78D5FF"/>
                </a:solidFill>
              </a:rPr>
              <a:t>路演重点：DreamEcho 已经证明了一个清晰方向：梦境可以被数据辅助记录，也可以被用户掌控地重建。</a:t>
            </a:r>
          </a:p>
        </p:txBody>
      </p:sp>
    </p:spTree>
    <p:extLst>
      <p:ext uri="{BB962C8B-B14F-4D97-AF65-F5344CB8AC3E}">
        <p14:creationId xmlns:p14="http://schemas.microsoft.com/office/powerpoint/2010/main" val="11359125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2026-07-08T09:21:35.7370000Z</dcterms:created>
  <dcterms:modified xsi:type="dcterms:W3CDTF">2026-07-08T09:21:35.7370000Z</dcterms:modified>
</coreProperties>
</file>